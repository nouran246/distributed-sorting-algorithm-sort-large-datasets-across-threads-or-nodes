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oppins Bold" charset="1" panose="00000800000000000000"/>
      <p:regular r:id="rId18"/>
    </p:embeddedFont>
    <p:embeddedFont>
      <p:font typeface="Poppins Medium Italics" charset="1" panose="00000600000000000000"/>
      <p:regular r:id="rId19"/>
    </p:embeddedFont>
    <p:embeddedFont>
      <p:font typeface="Poppins Medium" charset="1" panose="00000600000000000000"/>
      <p:regular r:id="rId20"/>
    </p:embeddedFont>
    <p:embeddedFont>
      <p:font typeface="Poppins" charset="1" panose="00000500000000000000"/>
      <p:regular r:id="rId21"/>
    </p:embeddedFont>
    <p:embeddedFont>
      <p:font typeface="Poppins Italics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6.pn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6.pn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6.pn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1.pn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3.jpeg" Type="http://schemas.openxmlformats.org/officeDocument/2006/relationships/image"/><Relationship Id="rId7" Target="../media/image3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5.jpeg" Type="http://schemas.openxmlformats.org/officeDocument/2006/relationships/image"/><Relationship Id="rId7" Target="../media/image36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25529" y="3404967"/>
            <a:ext cx="18939059" cy="1464829"/>
            <a:chOff x="0" y="0"/>
            <a:chExt cx="4988065" cy="3857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88065" cy="385799"/>
            </a:xfrm>
            <a:custGeom>
              <a:avLst/>
              <a:gdLst/>
              <a:ahLst/>
              <a:cxnLst/>
              <a:rect r="r" b="b" t="t" l="l"/>
              <a:pathLst>
                <a:path h="385799" w="4988065">
                  <a:moveTo>
                    <a:pt x="0" y="0"/>
                  </a:moveTo>
                  <a:lnTo>
                    <a:pt x="4988065" y="0"/>
                  </a:lnTo>
                  <a:lnTo>
                    <a:pt x="4988065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4988065" cy="357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394226" y="1431741"/>
            <a:ext cx="6379233" cy="8140553"/>
          </a:xfrm>
          <a:custGeom>
            <a:avLst/>
            <a:gdLst/>
            <a:ahLst/>
            <a:cxnLst/>
            <a:rect r="r" b="b" t="t" l="l"/>
            <a:pathLst>
              <a:path h="8140553" w="6379233">
                <a:moveTo>
                  <a:pt x="0" y="0"/>
                </a:moveTo>
                <a:lnTo>
                  <a:pt x="6379233" y="0"/>
                </a:lnTo>
                <a:lnTo>
                  <a:pt x="6379233" y="8140553"/>
                </a:lnTo>
                <a:lnTo>
                  <a:pt x="0" y="81405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010810" y="-155024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2417225" y="6172200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677586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775869" y="0"/>
                </a:lnTo>
                <a:lnTo>
                  <a:pt x="6775869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660616" y="3511872"/>
            <a:ext cx="6862410" cy="1371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24"/>
              </a:lnSpc>
              <a:spcBef>
                <a:spcPct val="0"/>
              </a:spcBef>
            </a:pPr>
            <a:r>
              <a:rPr lang="en-US" b="true" sz="9350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Distributed 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263774" y="-842039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856933" y="3174284"/>
            <a:ext cx="3083622" cy="3126612"/>
          </a:xfrm>
          <a:custGeom>
            <a:avLst/>
            <a:gdLst/>
            <a:ahLst/>
            <a:cxnLst/>
            <a:rect r="r" b="b" t="t" l="l"/>
            <a:pathLst>
              <a:path h="3126612" w="3083622">
                <a:moveTo>
                  <a:pt x="0" y="0"/>
                </a:moveTo>
                <a:lnTo>
                  <a:pt x="3083622" y="0"/>
                </a:lnTo>
                <a:lnTo>
                  <a:pt x="3083622" y="3126613"/>
                </a:lnTo>
                <a:lnTo>
                  <a:pt x="0" y="31266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246058" y="1259935"/>
            <a:ext cx="2549517" cy="2585062"/>
          </a:xfrm>
          <a:custGeom>
            <a:avLst/>
            <a:gdLst/>
            <a:ahLst/>
            <a:cxnLst/>
            <a:rect r="r" b="b" t="t" l="l"/>
            <a:pathLst>
              <a:path h="2585062" w="2549517">
                <a:moveTo>
                  <a:pt x="0" y="0"/>
                </a:moveTo>
                <a:lnTo>
                  <a:pt x="2549516" y="0"/>
                </a:lnTo>
                <a:lnTo>
                  <a:pt x="2549516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660616" y="1374714"/>
            <a:ext cx="527662" cy="527662"/>
          </a:xfrm>
          <a:custGeom>
            <a:avLst/>
            <a:gdLst/>
            <a:ahLst/>
            <a:cxnLst/>
            <a:rect r="r" b="b" t="t" l="l"/>
            <a:pathLst>
              <a:path h="527662" w="527662">
                <a:moveTo>
                  <a:pt x="0" y="0"/>
                </a:moveTo>
                <a:lnTo>
                  <a:pt x="527661" y="0"/>
                </a:lnTo>
                <a:lnTo>
                  <a:pt x="527661" y="527662"/>
                </a:lnTo>
                <a:lnTo>
                  <a:pt x="0" y="5276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660616" y="8593657"/>
            <a:ext cx="3582481" cy="436411"/>
          </a:xfrm>
          <a:custGeom>
            <a:avLst/>
            <a:gdLst/>
            <a:ahLst/>
            <a:cxnLst/>
            <a:rect r="r" b="b" t="t" l="l"/>
            <a:pathLst>
              <a:path h="436411" w="3582481">
                <a:moveTo>
                  <a:pt x="0" y="0"/>
                </a:moveTo>
                <a:lnTo>
                  <a:pt x="3582481" y="0"/>
                </a:lnTo>
                <a:lnTo>
                  <a:pt x="3582481" y="436412"/>
                </a:lnTo>
                <a:lnTo>
                  <a:pt x="0" y="4364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268246" y="1500271"/>
            <a:ext cx="3797164" cy="29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b="true" sz="2097" i="true">
                <a:solidFill>
                  <a:srgbClr val="0B4876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Distributed Systems Project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60616" y="4917421"/>
            <a:ext cx="8497325" cy="2599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24"/>
              </a:lnSpc>
              <a:spcBef>
                <a:spcPct val="0"/>
              </a:spcBef>
            </a:pPr>
            <a:r>
              <a:rPr lang="en-US" b="true" sz="9350">
                <a:solidFill>
                  <a:srgbClr val="063050"/>
                </a:solidFill>
                <a:latin typeface="Poppins Bold"/>
                <a:ea typeface="Poppins Bold"/>
                <a:cs typeface="Poppins Bold"/>
                <a:sym typeface="Poppins Bold"/>
              </a:rPr>
              <a:t>Sorting Algorithm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24447" y="8678231"/>
            <a:ext cx="2756550" cy="276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8"/>
              </a:lnSpc>
              <a:spcBef>
                <a:spcPct val="0"/>
              </a:spcBef>
            </a:pPr>
            <a:r>
              <a:rPr lang="en-US" b="true" sz="1902">
                <a:solidFill>
                  <a:srgbClr val="0B487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www.miuegypt.edu.eg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60616" y="7718568"/>
            <a:ext cx="5199780" cy="293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7"/>
              </a:lnSpc>
            </a:pPr>
            <a:r>
              <a:rPr lang="en-US" b="true" sz="1997" i="true">
                <a:solidFill>
                  <a:srgbClr val="0B4876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Prof. Hossam Mohamed Abdel Rahman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60616" y="1374714"/>
            <a:ext cx="527662" cy="527662"/>
          </a:xfrm>
          <a:custGeom>
            <a:avLst/>
            <a:gdLst/>
            <a:ahLst/>
            <a:cxnLst/>
            <a:rect r="r" b="b" t="t" l="l"/>
            <a:pathLst>
              <a:path h="527662" w="527662">
                <a:moveTo>
                  <a:pt x="0" y="0"/>
                </a:moveTo>
                <a:lnTo>
                  <a:pt x="527661" y="0"/>
                </a:lnTo>
                <a:lnTo>
                  <a:pt x="527661" y="527662"/>
                </a:lnTo>
                <a:lnTo>
                  <a:pt x="0" y="5276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87720" y="-811995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3" y="0"/>
                </a:lnTo>
                <a:lnTo>
                  <a:pt x="4313283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885508" y="2445749"/>
            <a:ext cx="14728021" cy="1464829"/>
            <a:chOff x="0" y="0"/>
            <a:chExt cx="3878985" cy="3857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78985" cy="385799"/>
            </a:xfrm>
            <a:custGeom>
              <a:avLst/>
              <a:gdLst/>
              <a:ahLst/>
              <a:cxnLst/>
              <a:rect r="r" b="b" t="t" l="l"/>
              <a:pathLst>
                <a:path h="385799" w="3878985">
                  <a:moveTo>
                    <a:pt x="0" y="0"/>
                  </a:moveTo>
                  <a:lnTo>
                    <a:pt x="3878985" y="0"/>
                  </a:lnTo>
                  <a:lnTo>
                    <a:pt x="3878985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3878985" cy="357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76799" y="2336074"/>
            <a:ext cx="6217418" cy="6922226"/>
          </a:xfrm>
          <a:custGeom>
            <a:avLst/>
            <a:gdLst/>
            <a:ahLst/>
            <a:cxnLst/>
            <a:rect r="r" b="b" t="t" l="l"/>
            <a:pathLst>
              <a:path h="6922226" w="6217418">
                <a:moveTo>
                  <a:pt x="0" y="0"/>
                </a:moveTo>
                <a:lnTo>
                  <a:pt x="6217418" y="0"/>
                </a:lnTo>
                <a:lnTo>
                  <a:pt x="6217418" y="6922226"/>
                </a:lnTo>
                <a:lnTo>
                  <a:pt x="0" y="69222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772581" y="5777357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3" y="0"/>
                </a:lnTo>
                <a:lnTo>
                  <a:pt x="4313283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961305" y="2743478"/>
            <a:ext cx="5115260" cy="90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F0F7FE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name="Freeform 11" id="11"/>
          <p:cNvSpPr/>
          <p:nvPr/>
        </p:nvSpPr>
        <p:spPr>
          <a:xfrm flipH="true" flipV="true" rot="0">
            <a:off x="14158001" y="6463808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677586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775868" y="0"/>
                </a:lnTo>
                <a:lnTo>
                  <a:pt x="6775868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961305" y="4447494"/>
            <a:ext cx="9297995" cy="400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7609" indent="-253804" lvl="1">
              <a:lnSpc>
                <a:spcPts val="2868"/>
              </a:lnSpc>
              <a:buFont typeface="Arial"/>
              <a:buChar char="•"/>
            </a:pPr>
            <a:r>
              <a:rPr lang="en-US" b="true" sz="2351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Massive data expansion renders single-machine sorting ineffective.</a:t>
            </a:r>
          </a:p>
          <a:p>
            <a:pPr algn="l">
              <a:lnSpc>
                <a:spcPts val="2868"/>
              </a:lnSpc>
            </a:pPr>
          </a:p>
          <a:p>
            <a:pPr algn="l" marL="507609" indent="-253804" lvl="1">
              <a:lnSpc>
                <a:spcPts val="2868"/>
              </a:lnSpc>
              <a:buFont typeface="Arial"/>
              <a:buChar char="•"/>
            </a:pPr>
            <a:r>
              <a:rPr lang="en-US" b="true" sz="2351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b="true" sz="2351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Sorting is necessary for large data analytics, databases, and cloud systems.</a:t>
            </a:r>
          </a:p>
          <a:p>
            <a:pPr algn="l">
              <a:lnSpc>
                <a:spcPts val="2868"/>
              </a:lnSpc>
            </a:pPr>
          </a:p>
          <a:p>
            <a:pPr algn="l" marL="507609" indent="-253804" lvl="1">
              <a:lnSpc>
                <a:spcPts val="2868"/>
              </a:lnSpc>
              <a:buFont typeface="Arial"/>
              <a:buChar char="•"/>
            </a:pPr>
            <a:r>
              <a:rPr lang="en-US" b="true" sz="2351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b="true" sz="2351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objective is to use Hadoop to accomplish distributed sorting effectively.</a:t>
            </a:r>
          </a:p>
          <a:p>
            <a:pPr algn="l">
              <a:lnSpc>
                <a:spcPts val="2868"/>
              </a:lnSpc>
            </a:pPr>
          </a:p>
          <a:p>
            <a:pPr algn="l" marL="507609" indent="-253804" lvl="1">
              <a:lnSpc>
                <a:spcPts val="2868"/>
              </a:lnSpc>
              <a:buFont typeface="Arial"/>
              <a:buChar char="•"/>
            </a:pPr>
            <a:r>
              <a:rPr lang="en-US" b="true" sz="2351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Inspired by the notion of linked nodes working together as devices in a network to accomplish one purpose.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68246" y="1500271"/>
            <a:ext cx="3797164" cy="29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b="true" sz="2097" i="true">
                <a:solidFill>
                  <a:srgbClr val="0B4876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Distributed Systems Project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60616" y="1374714"/>
            <a:ext cx="527662" cy="527662"/>
          </a:xfrm>
          <a:custGeom>
            <a:avLst/>
            <a:gdLst/>
            <a:ahLst/>
            <a:cxnLst/>
            <a:rect r="r" b="b" t="t" l="l"/>
            <a:pathLst>
              <a:path h="527662" w="527662">
                <a:moveTo>
                  <a:pt x="0" y="0"/>
                </a:moveTo>
                <a:lnTo>
                  <a:pt x="527661" y="0"/>
                </a:lnTo>
                <a:lnTo>
                  <a:pt x="527661" y="527662"/>
                </a:lnTo>
                <a:lnTo>
                  <a:pt x="0" y="5276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12739" y="4305951"/>
            <a:ext cx="5314633" cy="2666980"/>
          </a:xfrm>
          <a:custGeom>
            <a:avLst/>
            <a:gdLst/>
            <a:ahLst/>
            <a:cxnLst/>
            <a:rect r="r" b="b" t="t" l="l"/>
            <a:pathLst>
              <a:path h="2666980" w="5314633">
                <a:moveTo>
                  <a:pt x="0" y="0"/>
                </a:moveTo>
                <a:lnTo>
                  <a:pt x="5314634" y="0"/>
                </a:lnTo>
                <a:lnTo>
                  <a:pt x="5314634" y="2666980"/>
                </a:lnTo>
                <a:lnTo>
                  <a:pt x="0" y="26669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2946399" y="1956063"/>
            <a:ext cx="4312901" cy="7366756"/>
          </a:xfrm>
          <a:custGeom>
            <a:avLst/>
            <a:gdLst/>
            <a:ahLst/>
            <a:cxnLst/>
            <a:rect r="r" b="b" t="t" l="l"/>
            <a:pathLst>
              <a:path h="7366756" w="4312901">
                <a:moveTo>
                  <a:pt x="4312901" y="0"/>
                </a:moveTo>
                <a:lnTo>
                  <a:pt x="0" y="0"/>
                </a:lnTo>
                <a:lnTo>
                  <a:pt x="0" y="7366756"/>
                </a:lnTo>
                <a:lnTo>
                  <a:pt x="4312901" y="7366756"/>
                </a:lnTo>
                <a:lnTo>
                  <a:pt x="431290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30683" y="784161"/>
            <a:ext cx="5314633" cy="2666980"/>
          </a:xfrm>
          <a:custGeom>
            <a:avLst/>
            <a:gdLst/>
            <a:ahLst/>
            <a:cxnLst/>
            <a:rect r="r" b="b" t="t" l="l"/>
            <a:pathLst>
              <a:path h="2666980" w="5314633">
                <a:moveTo>
                  <a:pt x="0" y="0"/>
                </a:moveTo>
                <a:lnTo>
                  <a:pt x="5314634" y="0"/>
                </a:lnTo>
                <a:lnTo>
                  <a:pt x="5314634" y="2666980"/>
                </a:lnTo>
                <a:lnTo>
                  <a:pt x="0" y="26669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859447" y="8090545"/>
            <a:ext cx="5314633" cy="2666980"/>
          </a:xfrm>
          <a:custGeom>
            <a:avLst/>
            <a:gdLst/>
            <a:ahLst/>
            <a:cxnLst/>
            <a:rect r="r" b="b" t="t" l="l"/>
            <a:pathLst>
              <a:path h="2666980" w="5314633">
                <a:moveTo>
                  <a:pt x="0" y="0"/>
                </a:moveTo>
                <a:lnTo>
                  <a:pt x="5314633" y="0"/>
                </a:lnTo>
                <a:lnTo>
                  <a:pt x="5314633" y="2666980"/>
                </a:lnTo>
                <a:lnTo>
                  <a:pt x="0" y="26669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845531" y="1638545"/>
            <a:ext cx="3083622" cy="3126612"/>
          </a:xfrm>
          <a:custGeom>
            <a:avLst/>
            <a:gdLst/>
            <a:ahLst/>
            <a:cxnLst/>
            <a:rect r="r" b="b" t="t" l="l"/>
            <a:pathLst>
              <a:path h="3126612" w="3083622">
                <a:moveTo>
                  <a:pt x="0" y="0"/>
                </a:moveTo>
                <a:lnTo>
                  <a:pt x="3083621" y="0"/>
                </a:lnTo>
                <a:lnTo>
                  <a:pt x="3083621" y="3126613"/>
                </a:lnTo>
                <a:lnTo>
                  <a:pt x="0" y="31266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660616" y="2743478"/>
            <a:ext cx="6483384" cy="1726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063050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60616" y="4763426"/>
            <a:ext cx="7671662" cy="2918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7609" indent="-253804" lvl="1">
              <a:lnSpc>
                <a:spcPts val="2868"/>
              </a:lnSpc>
              <a:buFont typeface="Arial"/>
              <a:buChar char="•"/>
            </a:pPr>
            <a:r>
              <a:rPr lang="en-US" b="true" sz="2351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Traditional sorting algorithms struggle to scale beyond specific data sizes.</a:t>
            </a:r>
          </a:p>
          <a:p>
            <a:pPr algn="just">
              <a:lnSpc>
                <a:spcPts val="2868"/>
              </a:lnSpc>
            </a:pPr>
          </a:p>
          <a:p>
            <a:pPr algn="just" marL="507609" indent="-253804" lvl="1">
              <a:lnSpc>
                <a:spcPts val="2868"/>
              </a:lnSpc>
              <a:buFont typeface="Arial"/>
              <a:buChar char="•"/>
            </a:pPr>
            <a:r>
              <a:rPr lang="en-US" b="true" sz="2351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High memory utilization and high processing times on a single machine.</a:t>
            </a:r>
          </a:p>
          <a:p>
            <a:pPr algn="just">
              <a:lnSpc>
                <a:spcPts val="2868"/>
              </a:lnSpc>
            </a:pPr>
          </a:p>
          <a:p>
            <a:pPr algn="just" marL="507609" indent="-253804" lvl="1">
              <a:lnSpc>
                <a:spcPts val="2868"/>
              </a:lnSpc>
              <a:buFont typeface="Arial"/>
              <a:buChar char="•"/>
            </a:pPr>
            <a:r>
              <a:rPr lang="en-US" b="true" sz="2351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Need for a scalable, fault-tolerant, and parallel sorting solution. 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1395590" y="5254128"/>
            <a:ext cx="3083622" cy="3126612"/>
          </a:xfrm>
          <a:custGeom>
            <a:avLst/>
            <a:gdLst/>
            <a:ahLst/>
            <a:cxnLst/>
            <a:rect r="r" b="b" t="t" l="l"/>
            <a:pathLst>
              <a:path h="3126612" w="3083622">
                <a:moveTo>
                  <a:pt x="0" y="0"/>
                </a:moveTo>
                <a:lnTo>
                  <a:pt x="3083622" y="0"/>
                </a:lnTo>
                <a:lnTo>
                  <a:pt x="3083622" y="3126612"/>
                </a:lnTo>
                <a:lnTo>
                  <a:pt x="0" y="312661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268246" y="1500271"/>
            <a:ext cx="3797164" cy="29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b="true" sz="2097" i="true">
                <a:solidFill>
                  <a:srgbClr val="0B4876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Distributed Systems Project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60616" y="1374714"/>
            <a:ext cx="527662" cy="527662"/>
          </a:xfrm>
          <a:custGeom>
            <a:avLst/>
            <a:gdLst/>
            <a:ahLst/>
            <a:cxnLst/>
            <a:rect r="r" b="b" t="t" l="l"/>
            <a:pathLst>
              <a:path h="527662" w="527662">
                <a:moveTo>
                  <a:pt x="0" y="0"/>
                </a:moveTo>
                <a:lnTo>
                  <a:pt x="527661" y="0"/>
                </a:lnTo>
                <a:lnTo>
                  <a:pt x="527661" y="527662"/>
                </a:lnTo>
                <a:lnTo>
                  <a:pt x="0" y="5276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2697500" y="2445749"/>
            <a:ext cx="21311029" cy="1464829"/>
            <a:chOff x="0" y="0"/>
            <a:chExt cx="5612781" cy="3857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12781" cy="385799"/>
            </a:xfrm>
            <a:custGeom>
              <a:avLst/>
              <a:gdLst/>
              <a:ahLst/>
              <a:cxnLst/>
              <a:rect r="r" b="b" t="t" l="l"/>
              <a:pathLst>
                <a:path h="385799" w="5612781">
                  <a:moveTo>
                    <a:pt x="0" y="0"/>
                  </a:moveTo>
                  <a:lnTo>
                    <a:pt x="5612781" y="0"/>
                  </a:lnTo>
                  <a:lnTo>
                    <a:pt x="5612781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5612781" cy="357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65409" y="3003832"/>
            <a:ext cx="7817731" cy="4946492"/>
          </a:xfrm>
          <a:custGeom>
            <a:avLst/>
            <a:gdLst/>
            <a:ahLst/>
            <a:cxnLst/>
            <a:rect r="r" b="b" t="t" l="l"/>
            <a:pathLst>
              <a:path h="4946492" w="7817731">
                <a:moveTo>
                  <a:pt x="0" y="0"/>
                </a:moveTo>
                <a:lnTo>
                  <a:pt x="7817731" y="0"/>
                </a:lnTo>
                <a:lnTo>
                  <a:pt x="7817731" y="4946492"/>
                </a:lnTo>
                <a:lnTo>
                  <a:pt x="0" y="49464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58745" y="2705378"/>
            <a:ext cx="1765702" cy="1981910"/>
          </a:xfrm>
          <a:custGeom>
            <a:avLst/>
            <a:gdLst/>
            <a:ahLst/>
            <a:cxnLst/>
            <a:rect r="r" b="b" t="t" l="l"/>
            <a:pathLst>
              <a:path h="1981910" w="1765702">
                <a:moveTo>
                  <a:pt x="0" y="0"/>
                </a:moveTo>
                <a:lnTo>
                  <a:pt x="1765702" y="0"/>
                </a:lnTo>
                <a:lnTo>
                  <a:pt x="1765702" y="1981910"/>
                </a:lnTo>
                <a:lnTo>
                  <a:pt x="0" y="19819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786935" y="4544673"/>
            <a:ext cx="357065" cy="357065"/>
            <a:chOff x="0" y="0"/>
            <a:chExt cx="94042" cy="940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958015" y="2743478"/>
            <a:ext cx="10070484" cy="90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F0F7FE"/>
                </a:solidFill>
                <a:latin typeface="Poppins Bold"/>
                <a:ea typeface="Poppins Bold"/>
                <a:cs typeface="Poppins Bold"/>
                <a:sym typeface="Poppins Bold"/>
              </a:rPr>
              <a:t>APPROACH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32383" y="6566824"/>
            <a:ext cx="4021558" cy="394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381" b="true">
                <a:solidFill>
                  <a:srgbClr val="063050"/>
                </a:solidFill>
                <a:latin typeface="Poppins Bold"/>
                <a:ea typeface="Poppins Bold"/>
                <a:cs typeface="Poppins Bold"/>
                <a:sym typeface="Poppins Bold"/>
              </a:rPr>
              <a:t>Sampling &amp; Partitioning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32383" y="5336147"/>
            <a:ext cx="7445050" cy="604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951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Each node sorts its own local data using a standard sorting algorithm (e.g., quicksort, mergesort).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786935" y="6604924"/>
            <a:ext cx="357065" cy="357065"/>
            <a:chOff x="0" y="0"/>
            <a:chExt cx="94042" cy="940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632383" y="4471237"/>
            <a:ext cx="4357426" cy="394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381" b="true">
                <a:solidFill>
                  <a:srgbClr val="063050"/>
                </a:solidFill>
                <a:latin typeface="Poppins Bold"/>
                <a:ea typeface="Poppins Bold"/>
                <a:cs typeface="Poppins Bold"/>
                <a:sym typeface="Poppins Bold"/>
              </a:rPr>
              <a:t>Local Sort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32383" y="7198102"/>
            <a:ext cx="7344290" cy="604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951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Nodes sample keys to estimate global data distribution and determine which partition 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5979707" y="5791920"/>
            <a:ext cx="1765702" cy="1981910"/>
          </a:xfrm>
          <a:custGeom>
            <a:avLst/>
            <a:gdLst/>
            <a:ahLst/>
            <a:cxnLst/>
            <a:rect r="r" b="b" t="t" l="l"/>
            <a:pathLst>
              <a:path h="1981910" w="1765702">
                <a:moveTo>
                  <a:pt x="0" y="0"/>
                </a:moveTo>
                <a:lnTo>
                  <a:pt x="1765702" y="0"/>
                </a:lnTo>
                <a:lnTo>
                  <a:pt x="1765702" y="1981910"/>
                </a:lnTo>
                <a:lnTo>
                  <a:pt x="0" y="19819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268246" y="1500271"/>
            <a:ext cx="3797164" cy="29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b="true" sz="2097" i="true">
                <a:solidFill>
                  <a:srgbClr val="0B4876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Distributed Systems Project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60616" y="1374714"/>
            <a:ext cx="527662" cy="527662"/>
          </a:xfrm>
          <a:custGeom>
            <a:avLst/>
            <a:gdLst/>
            <a:ahLst/>
            <a:cxnLst/>
            <a:rect r="r" b="b" t="t" l="l"/>
            <a:pathLst>
              <a:path h="527662" w="527662">
                <a:moveTo>
                  <a:pt x="0" y="0"/>
                </a:moveTo>
                <a:lnTo>
                  <a:pt x="527661" y="0"/>
                </a:lnTo>
                <a:lnTo>
                  <a:pt x="527661" y="527662"/>
                </a:lnTo>
                <a:lnTo>
                  <a:pt x="0" y="5276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2697500" y="2445749"/>
            <a:ext cx="21311029" cy="1464829"/>
            <a:chOff x="0" y="0"/>
            <a:chExt cx="5612781" cy="3857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12781" cy="385799"/>
            </a:xfrm>
            <a:custGeom>
              <a:avLst/>
              <a:gdLst/>
              <a:ahLst/>
              <a:cxnLst/>
              <a:rect r="r" b="b" t="t" l="l"/>
              <a:pathLst>
                <a:path h="385799" w="5612781">
                  <a:moveTo>
                    <a:pt x="0" y="0"/>
                  </a:moveTo>
                  <a:lnTo>
                    <a:pt x="5612781" y="0"/>
                  </a:lnTo>
                  <a:lnTo>
                    <a:pt x="5612781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5612781" cy="357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65409" y="3003832"/>
            <a:ext cx="7817731" cy="4946492"/>
          </a:xfrm>
          <a:custGeom>
            <a:avLst/>
            <a:gdLst/>
            <a:ahLst/>
            <a:cxnLst/>
            <a:rect r="r" b="b" t="t" l="l"/>
            <a:pathLst>
              <a:path h="4946492" w="7817731">
                <a:moveTo>
                  <a:pt x="0" y="0"/>
                </a:moveTo>
                <a:lnTo>
                  <a:pt x="7817731" y="0"/>
                </a:lnTo>
                <a:lnTo>
                  <a:pt x="7817731" y="4946492"/>
                </a:lnTo>
                <a:lnTo>
                  <a:pt x="0" y="49464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58745" y="2705378"/>
            <a:ext cx="1765702" cy="1981910"/>
          </a:xfrm>
          <a:custGeom>
            <a:avLst/>
            <a:gdLst/>
            <a:ahLst/>
            <a:cxnLst/>
            <a:rect r="r" b="b" t="t" l="l"/>
            <a:pathLst>
              <a:path h="1981910" w="1765702">
                <a:moveTo>
                  <a:pt x="0" y="0"/>
                </a:moveTo>
                <a:lnTo>
                  <a:pt x="1765702" y="0"/>
                </a:lnTo>
                <a:lnTo>
                  <a:pt x="1765702" y="1981910"/>
                </a:lnTo>
                <a:lnTo>
                  <a:pt x="0" y="19819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786935" y="4544673"/>
            <a:ext cx="357065" cy="357065"/>
            <a:chOff x="0" y="0"/>
            <a:chExt cx="94042" cy="940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958015" y="2743478"/>
            <a:ext cx="10070484" cy="90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F0F7FE"/>
                </a:solidFill>
                <a:latin typeface="Poppins Bold"/>
                <a:ea typeface="Poppins Bold"/>
                <a:cs typeface="Poppins Bold"/>
                <a:sym typeface="Poppins Bold"/>
              </a:rPr>
              <a:t>APPROACH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32383" y="6566824"/>
            <a:ext cx="4021558" cy="394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381" b="true">
                <a:solidFill>
                  <a:srgbClr val="063050"/>
                </a:solidFill>
                <a:latin typeface="Poppins Bold"/>
                <a:ea typeface="Poppins Bold"/>
                <a:cs typeface="Poppins Bold"/>
                <a:sym typeface="Poppins Bold"/>
              </a:rPr>
              <a:t>Final Merge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32383" y="5336147"/>
            <a:ext cx="7445050" cy="604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951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 is redistributed across nodes so each node receives only records for its key range.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786935" y="6604924"/>
            <a:ext cx="357065" cy="357065"/>
            <a:chOff x="0" y="0"/>
            <a:chExt cx="94042" cy="940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632383" y="4471237"/>
            <a:ext cx="4357426" cy="394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381" b="true">
                <a:solidFill>
                  <a:srgbClr val="063050"/>
                </a:solidFill>
                <a:latin typeface="Poppins Bold"/>
                <a:ea typeface="Poppins Bold"/>
                <a:cs typeface="Poppins Bold"/>
                <a:sym typeface="Poppins Bold"/>
              </a:rPr>
              <a:t>Data Shuffle (Exchange)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32383" y="7198102"/>
            <a:ext cx="7344290" cy="1195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</a:p>
          <a:p>
            <a:pPr algn="l">
              <a:lnSpc>
                <a:spcPts val="2380"/>
              </a:lnSpc>
            </a:pPr>
            <a:r>
              <a:rPr lang="en-US" sz="1951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Each n</a:t>
            </a:r>
            <a:r>
              <a:rPr lang="en-US" sz="1951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ode merges or concatenates its received sorted data — the global dataset is now sorted.</a:t>
            </a:r>
          </a:p>
          <a:p>
            <a:pPr algn="l">
              <a:lnSpc>
                <a:spcPts val="2380"/>
              </a:lnSpc>
            </a:pP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5979707" y="5791920"/>
            <a:ext cx="1765702" cy="1981910"/>
          </a:xfrm>
          <a:custGeom>
            <a:avLst/>
            <a:gdLst/>
            <a:ahLst/>
            <a:cxnLst/>
            <a:rect r="r" b="b" t="t" l="l"/>
            <a:pathLst>
              <a:path h="1981910" w="1765702">
                <a:moveTo>
                  <a:pt x="0" y="0"/>
                </a:moveTo>
                <a:lnTo>
                  <a:pt x="1765702" y="0"/>
                </a:lnTo>
                <a:lnTo>
                  <a:pt x="1765702" y="1981910"/>
                </a:lnTo>
                <a:lnTo>
                  <a:pt x="0" y="19819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268246" y="1500271"/>
            <a:ext cx="3797164" cy="29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b="true" sz="2097" i="true">
                <a:solidFill>
                  <a:srgbClr val="0B4876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Distributed Systems Project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60616" y="1374714"/>
            <a:ext cx="527662" cy="527662"/>
          </a:xfrm>
          <a:custGeom>
            <a:avLst/>
            <a:gdLst/>
            <a:ahLst/>
            <a:cxnLst/>
            <a:rect r="r" b="b" t="t" l="l"/>
            <a:pathLst>
              <a:path h="527662" w="527662">
                <a:moveTo>
                  <a:pt x="0" y="0"/>
                </a:moveTo>
                <a:lnTo>
                  <a:pt x="527661" y="0"/>
                </a:lnTo>
                <a:lnTo>
                  <a:pt x="527661" y="527662"/>
                </a:lnTo>
                <a:lnTo>
                  <a:pt x="0" y="5276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53272" y="2616943"/>
            <a:ext cx="3793627" cy="5763798"/>
          </a:xfrm>
          <a:custGeom>
            <a:avLst/>
            <a:gdLst/>
            <a:ahLst/>
            <a:cxnLst/>
            <a:rect r="r" b="b" t="t" l="l"/>
            <a:pathLst>
              <a:path h="5763798" w="3793627">
                <a:moveTo>
                  <a:pt x="0" y="0"/>
                </a:moveTo>
                <a:lnTo>
                  <a:pt x="3793627" y="0"/>
                </a:lnTo>
                <a:lnTo>
                  <a:pt x="3793627" y="5763797"/>
                </a:lnTo>
                <a:lnTo>
                  <a:pt x="0" y="57637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53272" y="2263044"/>
            <a:ext cx="1663920" cy="1636693"/>
          </a:xfrm>
          <a:custGeom>
            <a:avLst/>
            <a:gdLst/>
            <a:ahLst/>
            <a:cxnLst/>
            <a:rect r="r" b="b" t="t" l="l"/>
            <a:pathLst>
              <a:path h="1636693" w="1663920">
                <a:moveTo>
                  <a:pt x="0" y="0"/>
                </a:moveTo>
                <a:lnTo>
                  <a:pt x="1663920" y="0"/>
                </a:lnTo>
                <a:lnTo>
                  <a:pt x="1663920" y="1636693"/>
                </a:lnTo>
                <a:lnTo>
                  <a:pt x="0" y="16366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60616" y="5414778"/>
            <a:ext cx="5391937" cy="309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924447" y="4644130"/>
            <a:ext cx="2762054" cy="394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381" b="true">
                <a:solidFill>
                  <a:srgbClr val="063050"/>
                </a:solidFill>
                <a:latin typeface="Poppins Bold"/>
                <a:ea typeface="Poppins Bold"/>
                <a:cs typeface="Poppins Bold"/>
                <a:sym typeface="Poppins Bold"/>
              </a:rPr>
              <a:t>Data Preparation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88277" y="7855635"/>
            <a:ext cx="10365499" cy="1203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3"/>
              </a:lnSpc>
            </a:pPr>
            <a:r>
              <a:rPr lang="en-US" sz="2559">
                <a:solidFill>
                  <a:srgbClr val="063050"/>
                </a:solidFill>
                <a:latin typeface="Poppins"/>
                <a:ea typeface="Poppins"/>
                <a:cs typeface="Poppins"/>
                <a:sym typeface="Poppins"/>
              </a:rPr>
              <a:t>Each Mapper reads a block of data and outputs key-value pairs, where the key represents the value to be sorted and the value is null.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90532" y="7099683"/>
            <a:ext cx="2762054" cy="394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381" b="true">
                <a:solidFill>
                  <a:srgbClr val="063050"/>
                </a:solidFill>
                <a:latin typeface="Poppins Bold"/>
                <a:ea typeface="Poppins Bold"/>
                <a:cs typeface="Poppins Bold"/>
                <a:sym typeface="Poppins Bold"/>
              </a:rPr>
              <a:t>Map Phase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60616" y="2795485"/>
            <a:ext cx="7853757" cy="90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063050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Methodologies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872140" y="1464854"/>
            <a:ext cx="2549517" cy="2585062"/>
          </a:xfrm>
          <a:custGeom>
            <a:avLst/>
            <a:gdLst/>
            <a:ahLst/>
            <a:cxnLst/>
            <a:rect r="r" b="b" t="t" l="l"/>
            <a:pathLst>
              <a:path h="2585062" w="2549517">
                <a:moveTo>
                  <a:pt x="0" y="0"/>
                </a:moveTo>
                <a:lnTo>
                  <a:pt x="2549517" y="0"/>
                </a:lnTo>
                <a:lnTo>
                  <a:pt x="2549517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390204" y="8950469"/>
            <a:ext cx="2549517" cy="2585062"/>
          </a:xfrm>
          <a:custGeom>
            <a:avLst/>
            <a:gdLst/>
            <a:ahLst/>
            <a:cxnLst/>
            <a:rect r="r" b="b" t="t" l="l"/>
            <a:pathLst>
              <a:path h="2585062" w="2549517">
                <a:moveTo>
                  <a:pt x="0" y="0"/>
                </a:moveTo>
                <a:lnTo>
                  <a:pt x="2549517" y="0"/>
                </a:lnTo>
                <a:lnTo>
                  <a:pt x="2549517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159313" y="4684673"/>
            <a:ext cx="357065" cy="357065"/>
            <a:chOff x="0" y="0"/>
            <a:chExt cx="94042" cy="940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159313" y="7136621"/>
            <a:ext cx="357065" cy="357065"/>
            <a:chOff x="0" y="0"/>
            <a:chExt cx="94042" cy="940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801695" y="5443353"/>
            <a:ext cx="10501716" cy="1042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  <a:spcBef>
                <a:spcPct val="0"/>
              </a:spcBef>
            </a:pPr>
            <a:r>
              <a:rPr lang="en-US" sz="2558">
                <a:solidFill>
                  <a:srgbClr val="063050"/>
                </a:solidFill>
                <a:latin typeface="Poppins"/>
                <a:ea typeface="Poppins"/>
                <a:cs typeface="Poppins"/>
                <a:sym typeface="Poppins"/>
              </a:rPr>
              <a:t>The dataset (numbers or text) is stored in the Hadoop Distributed File System (HDFS) and divided automatically into blocks distributed across nodes.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268246" y="1500271"/>
            <a:ext cx="3797164" cy="29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b="true" sz="2097" i="true">
                <a:solidFill>
                  <a:srgbClr val="0B4876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Distributed Systems Project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60616" y="1374714"/>
            <a:ext cx="527662" cy="527662"/>
          </a:xfrm>
          <a:custGeom>
            <a:avLst/>
            <a:gdLst/>
            <a:ahLst/>
            <a:cxnLst/>
            <a:rect r="r" b="b" t="t" l="l"/>
            <a:pathLst>
              <a:path h="527662" w="527662">
                <a:moveTo>
                  <a:pt x="0" y="0"/>
                </a:moveTo>
                <a:lnTo>
                  <a:pt x="527661" y="0"/>
                </a:lnTo>
                <a:lnTo>
                  <a:pt x="527661" y="527662"/>
                </a:lnTo>
                <a:lnTo>
                  <a:pt x="0" y="5276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60616" y="5414778"/>
            <a:ext cx="5391937" cy="309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924447" y="4644130"/>
            <a:ext cx="4945860" cy="394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381" b="true">
                <a:solidFill>
                  <a:srgbClr val="063050"/>
                </a:solidFill>
                <a:latin typeface="Poppins Bold"/>
                <a:ea typeface="Poppins Bold"/>
                <a:cs typeface="Poppins Bold"/>
                <a:sym typeface="Poppins Bold"/>
              </a:rPr>
              <a:t>Shuffle and Sort Phase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88277" y="7855635"/>
            <a:ext cx="10365499" cy="812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3"/>
              </a:lnSpc>
            </a:pPr>
            <a:r>
              <a:rPr lang="en-US" sz="2559">
                <a:solidFill>
                  <a:srgbClr val="063050"/>
                </a:solidFill>
                <a:latin typeface="Poppins"/>
                <a:ea typeface="Poppins"/>
                <a:cs typeface="Poppins"/>
                <a:sym typeface="Poppins"/>
              </a:rPr>
              <a:t>Reducers merge the sorted intermediate data and write the final globally sorted output back to HDFS.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90532" y="7099683"/>
            <a:ext cx="2762054" cy="394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381" b="true">
                <a:solidFill>
                  <a:srgbClr val="063050"/>
                </a:solidFill>
                <a:latin typeface="Poppins Bold"/>
                <a:ea typeface="Poppins Bold"/>
                <a:cs typeface="Poppins Bold"/>
                <a:sym typeface="Poppins Bold"/>
              </a:rPr>
              <a:t>Reduce Phase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60616" y="2795485"/>
            <a:ext cx="7853757" cy="90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063050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Methodologies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872140" y="1464854"/>
            <a:ext cx="2549517" cy="2585062"/>
          </a:xfrm>
          <a:custGeom>
            <a:avLst/>
            <a:gdLst/>
            <a:ahLst/>
            <a:cxnLst/>
            <a:rect r="r" b="b" t="t" l="l"/>
            <a:pathLst>
              <a:path h="2585062" w="2549517">
                <a:moveTo>
                  <a:pt x="0" y="0"/>
                </a:moveTo>
                <a:lnTo>
                  <a:pt x="2549517" y="0"/>
                </a:lnTo>
                <a:lnTo>
                  <a:pt x="2549517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90204" y="8950469"/>
            <a:ext cx="2549517" cy="2585062"/>
          </a:xfrm>
          <a:custGeom>
            <a:avLst/>
            <a:gdLst/>
            <a:ahLst/>
            <a:cxnLst/>
            <a:rect r="r" b="b" t="t" l="l"/>
            <a:pathLst>
              <a:path h="2585062" w="2549517">
                <a:moveTo>
                  <a:pt x="0" y="0"/>
                </a:moveTo>
                <a:lnTo>
                  <a:pt x="2549517" y="0"/>
                </a:lnTo>
                <a:lnTo>
                  <a:pt x="2549517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59313" y="4684673"/>
            <a:ext cx="357065" cy="357065"/>
            <a:chOff x="0" y="0"/>
            <a:chExt cx="94042" cy="9404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159313" y="7136621"/>
            <a:ext cx="357065" cy="357065"/>
            <a:chOff x="0" y="0"/>
            <a:chExt cx="94042" cy="9404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801695" y="5443353"/>
            <a:ext cx="10501716" cy="70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  <a:spcBef>
                <a:spcPct val="0"/>
              </a:spcBef>
            </a:pPr>
            <a:r>
              <a:rPr lang="en-US" sz="2558">
                <a:solidFill>
                  <a:srgbClr val="063050"/>
                </a:solidFill>
                <a:latin typeface="Poppins"/>
                <a:ea typeface="Poppins"/>
                <a:cs typeface="Poppins"/>
                <a:sym typeface="Poppins"/>
              </a:rPr>
              <a:t>Ha</a:t>
            </a:r>
            <a:r>
              <a:rPr lang="en-US" sz="2558">
                <a:solidFill>
                  <a:srgbClr val="063050"/>
                </a:solidFill>
                <a:latin typeface="Poppins"/>
                <a:ea typeface="Poppins"/>
                <a:cs typeface="Poppins"/>
                <a:sym typeface="Poppins"/>
              </a:rPr>
              <a:t>doop automatically groups and sorts all keys from different mappers in ascending order across the cluster.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2470607" y="6152570"/>
            <a:ext cx="4858884" cy="3127355"/>
          </a:xfrm>
          <a:custGeom>
            <a:avLst/>
            <a:gdLst/>
            <a:ahLst/>
            <a:cxnLst/>
            <a:rect r="r" b="b" t="t" l="l"/>
            <a:pathLst>
              <a:path h="3127355" w="4858884">
                <a:moveTo>
                  <a:pt x="0" y="0"/>
                </a:moveTo>
                <a:lnTo>
                  <a:pt x="4858884" y="0"/>
                </a:lnTo>
                <a:lnTo>
                  <a:pt x="4858884" y="3127354"/>
                </a:lnTo>
                <a:lnTo>
                  <a:pt x="0" y="31273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052133" y="3022983"/>
            <a:ext cx="2551176" cy="4114800"/>
          </a:xfrm>
          <a:custGeom>
            <a:avLst/>
            <a:gdLst/>
            <a:ahLst/>
            <a:cxnLst/>
            <a:rect r="r" b="b" t="t" l="l"/>
            <a:pathLst>
              <a:path h="4114800" w="2551176">
                <a:moveTo>
                  <a:pt x="0" y="0"/>
                </a:moveTo>
                <a:lnTo>
                  <a:pt x="2551176" y="0"/>
                </a:lnTo>
                <a:lnTo>
                  <a:pt x="25511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991022" y="1332965"/>
            <a:ext cx="2232436" cy="2263560"/>
          </a:xfrm>
          <a:custGeom>
            <a:avLst/>
            <a:gdLst/>
            <a:ahLst/>
            <a:cxnLst/>
            <a:rect r="r" b="b" t="t" l="l"/>
            <a:pathLst>
              <a:path h="2263560" w="2232436">
                <a:moveTo>
                  <a:pt x="0" y="0"/>
                </a:moveTo>
                <a:lnTo>
                  <a:pt x="2232436" y="0"/>
                </a:lnTo>
                <a:lnTo>
                  <a:pt x="2232436" y="2263559"/>
                </a:lnTo>
                <a:lnTo>
                  <a:pt x="0" y="22635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906066" y="6478896"/>
            <a:ext cx="4313283" cy="4373418"/>
          </a:xfrm>
          <a:custGeom>
            <a:avLst/>
            <a:gdLst/>
            <a:ahLst/>
            <a:cxnLst/>
            <a:rect r="r" b="b" t="t" l="l"/>
            <a:pathLst>
              <a:path h="4373418" w="4313283">
                <a:moveTo>
                  <a:pt x="0" y="0"/>
                </a:moveTo>
                <a:lnTo>
                  <a:pt x="4313283" y="0"/>
                </a:lnTo>
                <a:lnTo>
                  <a:pt x="4313283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268246" y="1500271"/>
            <a:ext cx="3797164" cy="29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b="true" sz="2097" i="true">
                <a:solidFill>
                  <a:srgbClr val="0B4876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Distributed Systems Project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60616" y="1374714"/>
            <a:ext cx="527662" cy="527662"/>
          </a:xfrm>
          <a:custGeom>
            <a:avLst/>
            <a:gdLst/>
            <a:ahLst/>
            <a:cxnLst/>
            <a:rect r="r" b="b" t="t" l="l"/>
            <a:pathLst>
              <a:path h="527662" w="527662">
                <a:moveTo>
                  <a:pt x="0" y="0"/>
                </a:moveTo>
                <a:lnTo>
                  <a:pt x="527661" y="0"/>
                </a:lnTo>
                <a:lnTo>
                  <a:pt x="527661" y="527662"/>
                </a:lnTo>
                <a:lnTo>
                  <a:pt x="0" y="5276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60616" y="5414778"/>
            <a:ext cx="5391937" cy="309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924447" y="4644130"/>
            <a:ext cx="4945860" cy="394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381" b="true">
                <a:solidFill>
                  <a:srgbClr val="063050"/>
                </a:solidFill>
                <a:latin typeface="Poppins Bold"/>
                <a:ea typeface="Poppins Bold"/>
                <a:cs typeface="Poppins Bold"/>
                <a:sym typeface="Poppins Bold"/>
              </a:rPr>
              <a:t>Testing and Validation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60616" y="2795485"/>
            <a:ext cx="7853757" cy="90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063050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Methodologies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872140" y="1464854"/>
            <a:ext cx="2549517" cy="2585062"/>
          </a:xfrm>
          <a:custGeom>
            <a:avLst/>
            <a:gdLst/>
            <a:ahLst/>
            <a:cxnLst/>
            <a:rect r="r" b="b" t="t" l="l"/>
            <a:pathLst>
              <a:path h="2585062" w="2549517">
                <a:moveTo>
                  <a:pt x="0" y="0"/>
                </a:moveTo>
                <a:lnTo>
                  <a:pt x="2549517" y="0"/>
                </a:lnTo>
                <a:lnTo>
                  <a:pt x="2549517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390204" y="8950469"/>
            <a:ext cx="2549517" cy="2585062"/>
          </a:xfrm>
          <a:custGeom>
            <a:avLst/>
            <a:gdLst/>
            <a:ahLst/>
            <a:cxnLst/>
            <a:rect r="r" b="b" t="t" l="l"/>
            <a:pathLst>
              <a:path h="2585062" w="2549517">
                <a:moveTo>
                  <a:pt x="0" y="0"/>
                </a:moveTo>
                <a:lnTo>
                  <a:pt x="2549517" y="0"/>
                </a:lnTo>
                <a:lnTo>
                  <a:pt x="2549517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1000"/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159313" y="4684673"/>
            <a:ext cx="357065" cy="357065"/>
            <a:chOff x="0" y="0"/>
            <a:chExt cx="94042" cy="940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801695" y="5443353"/>
            <a:ext cx="7327801" cy="1042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  <a:spcBef>
                <a:spcPct val="0"/>
              </a:spcBef>
            </a:pPr>
            <a:r>
              <a:rPr lang="en-US" sz="2558">
                <a:solidFill>
                  <a:srgbClr val="063050"/>
                </a:solidFill>
                <a:latin typeface="Poppins"/>
                <a:ea typeface="Poppins"/>
                <a:cs typeface="Poppins"/>
                <a:sym typeface="Poppins"/>
              </a:rPr>
              <a:t>The</a:t>
            </a:r>
            <a:r>
              <a:rPr lang="en-US" sz="2558">
                <a:solidFill>
                  <a:srgbClr val="063050"/>
                </a:solidFill>
                <a:latin typeface="Poppins"/>
                <a:ea typeface="Poppins"/>
                <a:cs typeface="Poppins"/>
                <a:sym typeface="Poppins"/>
              </a:rPr>
              <a:t> final output is verified using sample and large datasets to ensure correct order, efficiency, and scalability.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712739" y="4305951"/>
            <a:ext cx="5314633" cy="2666980"/>
          </a:xfrm>
          <a:custGeom>
            <a:avLst/>
            <a:gdLst/>
            <a:ahLst/>
            <a:cxnLst/>
            <a:rect r="r" b="b" t="t" l="l"/>
            <a:pathLst>
              <a:path h="2666980" w="5314633">
                <a:moveTo>
                  <a:pt x="0" y="0"/>
                </a:moveTo>
                <a:lnTo>
                  <a:pt x="5314634" y="0"/>
                </a:lnTo>
                <a:lnTo>
                  <a:pt x="5314634" y="2666980"/>
                </a:lnTo>
                <a:lnTo>
                  <a:pt x="0" y="26669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12946399" y="1956063"/>
            <a:ext cx="4312901" cy="7366756"/>
          </a:xfrm>
          <a:custGeom>
            <a:avLst/>
            <a:gdLst/>
            <a:ahLst/>
            <a:cxnLst/>
            <a:rect r="r" b="b" t="t" l="l"/>
            <a:pathLst>
              <a:path h="7366756" w="4312901">
                <a:moveTo>
                  <a:pt x="4312901" y="0"/>
                </a:moveTo>
                <a:lnTo>
                  <a:pt x="0" y="0"/>
                </a:lnTo>
                <a:lnTo>
                  <a:pt x="0" y="7366756"/>
                </a:lnTo>
                <a:lnTo>
                  <a:pt x="4312901" y="7366756"/>
                </a:lnTo>
                <a:lnTo>
                  <a:pt x="431290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630683" y="784161"/>
            <a:ext cx="5314633" cy="2666980"/>
          </a:xfrm>
          <a:custGeom>
            <a:avLst/>
            <a:gdLst/>
            <a:ahLst/>
            <a:cxnLst/>
            <a:rect r="r" b="b" t="t" l="l"/>
            <a:pathLst>
              <a:path h="2666980" w="5314633">
                <a:moveTo>
                  <a:pt x="0" y="0"/>
                </a:moveTo>
                <a:lnTo>
                  <a:pt x="5314634" y="0"/>
                </a:lnTo>
                <a:lnTo>
                  <a:pt x="5314634" y="2666980"/>
                </a:lnTo>
                <a:lnTo>
                  <a:pt x="0" y="26669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859447" y="8090545"/>
            <a:ext cx="5314633" cy="2666980"/>
          </a:xfrm>
          <a:custGeom>
            <a:avLst/>
            <a:gdLst/>
            <a:ahLst/>
            <a:cxnLst/>
            <a:rect r="r" b="b" t="t" l="l"/>
            <a:pathLst>
              <a:path h="2666980" w="5314633">
                <a:moveTo>
                  <a:pt x="0" y="0"/>
                </a:moveTo>
                <a:lnTo>
                  <a:pt x="5314633" y="0"/>
                </a:lnTo>
                <a:lnTo>
                  <a:pt x="5314633" y="2666980"/>
                </a:lnTo>
                <a:lnTo>
                  <a:pt x="0" y="26669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268246" y="1500271"/>
            <a:ext cx="3797164" cy="29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b="true" sz="2097" i="true">
                <a:solidFill>
                  <a:srgbClr val="0B4876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Distributed Systems Project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45100" y="2587308"/>
            <a:ext cx="21311029" cy="1464829"/>
            <a:chOff x="0" y="0"/>
            <a:chExt cx="5612781" cy="3857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612781" cy="385799"/>
            </a:xfrm>
            <a:custGeom>
              <a:avLst/>
              <a:gdLst/>
              <a:ahLst/>
              <a:cxnLst/>
              <a:rect r="r" b="b" t="t" l="l"/>
              <a:pathLst>
                <a:path h="385799" w="5612781">
                  <a:moveTo>
                    <a:pt x="0" y="0"/>
                  </a:moveTo>
                  <a:lnTo>
                    <a:pt x="5612781" y="0"/>
                  </a:lnTo>
                  <a:lnTo>
                    <a:pt x="5612781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5612781" cy="357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764767" y="1371600"/>
            <a:ext cx="5714810" cy="6701803"/>
          </a:xfrm>
          <a:custGeom>
            <a:avLst/>
            <a:gdLst/>
            <a:ahLst/>
            <a:cxnLst/>
            <a:rect r="r" b="b" t="t" l="l"/>
            <a:pathLst>
              <a:path h="6701803" w="5714810">
                <a:moveTo>
                  <a:pt x="0" y="0"/>
                </a:moveTo>
                <a:lnTo>
                  <a:pt x="5714811" y="0"/>
                </a:lnTo>
                <a:lnTo>
                  <a:pt x="5714811" y="6701803"/>
                </a:lnTo>
                <a:lnTo>
                  <a:pt x="0" y="67018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662699" y="4118231"/>
            <a:ext cx="1663920" cy="1636693"/>
          </a:xfrm>
          <a:custGeom>
            <a:avLst/>
            <a:gdLst/>
            <a:ahLst/>
            <a:cxnLst/>
            <a:rect r="r" b="b" t="t" l="l"/>
            <a:pathLst>
              <a:path h="1636693" w="1663920">
                <a:moveTo>
                  <a:pt x="0" y="0"/>
                </a:moveTo>
                <a:lnTo>
                  <a:pt x="1663921" y="0"/>
                </a:lnTo>
                <a:lnTo>
                  <a:pt x="1663921" y="1636693"/>
                </a:lnTo>
                <a:lnTo>
                  <a:pt x="0" y="16366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238342" y="5332686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0" y="0"/>
                </a:moveTo>
                <a:lnTo>
                  <a:pt x="5863057" y="0"/>
                </a:lnTo>
                <a:lnTo>
                  <a:pt x="58630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727664" y="1371600"/>
            <a:ext cx="3083622" cy="3126612"/>
          </a:xfrm>
          <a:custGeom>
            <a:avLst/>
            <a:gdLst/>
            <a:ahLst/>
            <a:cxnLst/>
            <a:rect r="r" b="b" t="t" l="l"/>
            <a:pathLst>
              <a:path h="3126612" w="3083622">
                <a:moveTo>
                  <a:pt x="0" y="0"/>
                </a:moveTo>
                <a:lnTo>
                  <a:pt x="3083622" y="0"/>
                </a:lnTo>
                <a:lnTo>
                  <a:pt x="3083622" y="3126612"/>
                </a:lnTo>
                <a:lnTo>
                  <a:pt x="0" y="312661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570511" y="2947885"/>
            <a:ext cx="9892837" cy="90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F0F7FE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513111" y="8073403"/>
            <a:ext cx="3083622" cy="3126612"/>
          </a:xfrm>
          <a:custGeom>
            <a:avLst/>
            <a:gdLst/>
            <a:ahLst/>
            <a:cxnLst/>
            <a:rect r="r" b="b" t="t" l="l"/>
            <a:pathLst>
              <a:path h="3126612" w="3083622">
                <a:moveTo>
                  <a:pt x="0" y="0"/>
                </a:moveTo>
                <a:lnTo>
                  <a:pt x="3083622" y="0"/>
                </a:lnTo>
                <a:lnTo>
                  <a:pt x="3083622" y="3126613"/>
                </a:lnTo>
                <a:lnTo>
                  <a:pt x="0" y="31266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660616" y="1374714"/>
            <a:ext cx="527662" cy="527662"/>
          </a:xfrm>
          <a:custGeom>
            <a:avLst/>
            <a:gdLst/>
            <a:ahLst/>
            <a:cxnLst/>
            <a:rect r="r" b="b" t="t" l="l"/>
            <a:pathLst>
              <a:path h="527662" w="527662">
                <a:moveTo>
                  <a:pt x="0" y="0"/>
                </a:moveTo>
                <a:lnTo>
                  <a:pt x="527661" y="0"/>
                </a:lnTo>
                <a:lnTo>
                  <a:pt x="527661" y="527662"/>
                </a:lnTo>
                <a:lnTo>
                  <a:pt x="0" y="527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980781" y="5143500"/>
            <a:ext cx="357065" cy="357065"/>
            <a:chOff x="0" y="0"/>
            <a:chExt cx="94042" cy="940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570511" y="6015786"/>
            <a:ext cx="6483384" cy="78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9"/>
              </a:lnSpc>
            </a:pPr>
            <a:r>
              <a:rPr lang="en-US" sz="249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Processed 5 million records effieciently using hadoop’s distributed framework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59277" y="4282161"/>
            <a:ext cx="7184723" cy="394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381" b="true">
                <a:solidFill>
                  <a:srgbClr val="063050"/>
                </a:solidFill>
                <a:latin typeface="Poppins Bold"/>
                <a:ea typeface="Poppins Bold"/>
                <a:cs typeface="Poppins Bold"/>
                <a:sym typeface="Poppins Bold"/>
              </a:rPr>
              <a:t>The System ran successfully in two modes: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980781" y="6243654"/>
            <a:ext cx="357065" cy="357065"/>
            <a:chOff x="0" y="0"/>
            <a:chExt cx="94042" cy="9404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660616" y="7197479"/>
            <a:ext cx="6292982" cy="78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9"/>
              </a:lnSpc>
            </a:pPr>
            <a:r>
              <a:rPr lang="en-US" sz="2499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Job completed in under 40 seconds, confirming scalability.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268246" y="1500271"/>
            <a:ext cx="3797164" cy="29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b="true" sz="2097" i="true">
                <a:solidFill>
                  <a:srgbClr val="0B4876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Distributed Systems Project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570511" y="5121487"/>
            <a:ext cx="6165532" cy="393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0"/>
              </a:lnSpc>
            </a:pPr>
            <a:r>
              <a:rPr lang="en-US" sz="2451" b="true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Numeric and alphanumeric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980781" y="7425347"/>
            <a:ext cx="357065" cy="357065"/>
            <a:chOff x="0" y="0"/>
            <a:chExt cx="94042" cy="9404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4042" cy="94042"/>
            </a:xfrm>
            <a:custGeom>
              <a:avLst/>
              <a:gdLst/>
              <a:ahLst/>
              <a:cxnLst/>
              <a:rect r="r" b="b" t="t" l="l"/>
              <a:pathLst>
                <a:path h="94042" w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45100" y="2587308"/>
            <a:ext cx="21311029" cy="1464829"/>
            <a:chOff x="0" y="0"/>
            <a:chExt cx="5612781" cy="3857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612781" cy="385799"/>
            </a:xfrm>
            <a:custGeom>
              <a:avLst/>
              <a:gdLst/>
              <a:ahLst/>
              <a:cxnLst/>
              <a:rect r="r" b="b" t="t" l="l"/>
              <a:pathLst>
                <a:path h="385799" w="5612781">
                  <a:moveTo>
                    <a:pt x="0" y="0"/>
                  </a:moveTo>
                  <a:lnTo>
                    <a:pt x="5612781" y="0"/>
                  </a:lnTo>
                  <a:lnTo>
                    <a:pt x="5612781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5612781" cy="357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727664" y="1371600"/>
            <a:ext cx="3083622" cy="3126612"/>
          </a:xfrm>
          <a:custGeom>
            <a:avLst/>
            <a:gdLst/>
            <a:ahLst/>
            <a:cxnLst/>
            <a:rect r="r" b="b" t="t" l="l"/>
            <a:pathLst>
              <a:path h="3126612" w="3083622">
                <a:moveTo>
                  <a:pt x="0" y="0"/>
                </a:moveTo>
                <a:lnTo>
                  <a:pt x="3083622" y="0"/>
                </a:lnTo>
                <a:lnTo>
                  <a:pt x="3083622" y="3126612"/>
                </a:lnTo>
                <a:lnTo>
                  <a:pt x="0" y="3126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513111" y="8073403"/>
            <a:ext cx="3083622" cy="3126612"/>
          </a:xfrm>
          <a:custGeom>
            <a:avLst/>
            <a:gdLst/>
            <a:ahLst/>
            <a:cxnLst/>
            <a:rect r="r" b="b" t="t" l="l"/>
            <a:pathLst>
              <a:path h="3126612" w="3083622">
                <a:moveTo>
                  <a:pt x="0" y="0"/>
                </a:moveTo>
                <a:lnTo>
                  <a:pt x="3083622" y="0"/>
                </a:lnTo>
                <a:lnTo>
                  <a:pt x="3083622" y="3126613"/>
                </a:lnTo>
                <a:lnTo>
                  <a:pt x="0" y="31266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660616" y="1374714"/>
            <a:ext cx="527662" cy="527662"/>
          </a:xfrm>
          <a:custGeom>
            <a:avLst/>
            <a:gdLst/>
            <a:ahLst/>
            <a:cxnLst/>
            <a:rect r="r" b="b" t="t" l="l"/>
            <a:pathLst>
              <a:path h="527662" w="527662">
                <a:moveTo>
                  <a:pt x="0" y="0"/>
                </a:moveTo>
                <a:lnTo>
                  <a:pt x="527661" y="0"/>
                </a:lnTo>
                <a:lnTo>
                  <a:pt x="527661" y="527662"/>
                </a:lnTo>
                <a:lnTo>
                  <a:pt x="0" y="5276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644456" y="5612637"/>
            <a:ext cx="12212960" cy="2684049"/>
          </a:xfrm>
          <a:custGeom>
            <a:avLst/>
            <a:gdLst/>
            <a:ahLst/>
            <a:cxnLst/>
            <a:rect r="r" b="b" t="t" l="l"/>
            <a:pathLst>
              <a:path h="2684049" w="12212960">
                <a:moveTo>
                  <a:pt x="0" y="0"/>
                </a:moveTo>
                <a:lnTo>
                  <a:pt x="12212960" y="0"/>
                </a:lnTo>
                <a:lnTo>
                  <a:pt x="12212960" y="2684049"/>
                </a:lnTo>
                <a:lnTo>
                  <a:pt x="0" y="26840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8966" r="-9130" b="-8966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70305" y="4475448"/>
            <a:ext cx="4596068" cy="4958427"/>
          </a:xfrm>
          <a:custGeom>
            <a:avLst/>
            <a:gdLst/>
            <a:ahLst/>
            <a:cxnLst/>
            <a:rect r="r" b="b" t="t" l="l"/>
            <a:pathLst>
              <a:path h="4958427" w="4596068">
                <a:moveTo>
                  <a:pt x="0" y="0"/>
                </a:moveTo>
                <a:lnTo>
                  <a:pt x="4596068" y="0"/>
                </a:lnTo>
                <a:lnTo>
                  <a:pt x="4596068" y="4958428"/>
                </a:lnTo>
                <a:lnTo>
                  <a:pt x="0" y="49584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558" t="0" r="-142331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570511" y="2947885"/>
            <a:ext cx="12866314" cy="90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F0F7FE"/>
                </a:solidFill>
                <a:latin typeface="Poppins Bold"/>
                <a:ea typeface="Poppins Bold"/>
                <a:cs typeface="Poppins Bold"/>
                <a:sym typeface="Poppins Bold"/>
              </a:rPr>
              <a:t>Numerical dataset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68246" y="1500271"/>
            <a:ext cx="3797164" cy="29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b="true" sz="2097" i="true">
                <a:solidFill>
                  <a:srgbClr val="0B4876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Distributed Systems Project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45100" y="2587308"/>
            <a:ext cx="21311029" cy="1464829"/>
            <a:chOff x="0" y="0"/>
            <a:chExt cx="5612781" cy="3857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612781" cy="385799"/>
            </a:xfrm>
            <a:custGeom>
              <a:avLst/>
              <a:gdLst/>
              <a:ahLst/>
              <a:cxnLst/>
              <a:rect r="r" b="b" t="t" l="l"/>
              <a:pathLst>
                <a:path h="385799" w="5612781">
                  <a:moveTo>
                    <a:pt x="0" y="0"/>
                  </a:moveTo>
                  <a:lnTo>
                    <a:pt x="5612781" y="0"/>
                  </a:lnTo>
                  <a:lnTo>
                    <a:pt x="5612781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5612781" cy="357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727664" y="1371600"/>
            <a:ext cx="3083622" cy="3126612"/>
          </a:xfrm>
          <a:custGeom>
            <a:avLst/>
            <a:gdLst/>
            <a:ahLst/>
            <a:cxnLst/>
            <a:rect r="r" b="b" t="t" l="l"/>
            <a:pathLst>
              <a:path h="3126612" w="3083622">
                <a:moveTo>
                  <a:pt x="0" y="0"/>
                </a:moveTo>
                <a:lnTo>
                  <a:pt x="3083622" y="0"/>
                </a:lnTo>
                <a:lnTo>
                  <a:pt x="3083622" y="3126612"/>
                </a:lnTo>
                <a:lnTo>
                  <a:pt x="0" y="3126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513111" y="8073403"/>
            <a:ext cx="3083622" cy="3126612"/>
          </a:xfrm>
          <a:custGeom>
            <a:avLst/>
            <a:gdLst/>
            <a:ahLst/>
            <a:cxnLst/>
            <a:rect r="r" b="b" t="t" l="l"/>
            <a:pathLst>
              <a:path h="3126612" w="3083622">
                <a:moveTo>
                  <a:pt x="0" y="0"/>
                </a:moveTo>
                <a:lnTo>
                  <a:pt x="3083622" y="0"/>
                </a:lnTo>
                <a:lnTo>
                  <a:pt x="3083622" y="3126613"/>
                </a:lnTo>
                <a:lnTo>
                  <a:pt x="0" y="31266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660616" y="1374714"/>
            <a:ext cx="527662" cy="527662"/>
          </a:xfrm>
          <a:custGeom>
            <a:avLst/>
            <a:gdLst/>
            <a:ahLst/>
            <a:cxnLst/>
            <a:rect r="r" b="b" t="t" l="l"/>
            <a:pathLst>
              <a:path h="527662" w="527662">
                <a:moveTo>
                  <a:pt x="0" y="0"/>
                </a:moveTo>
                <a:lnTo>
                  <a:pt x="527661" y="0"/>
                </a:lnTo>
                <a:lnTo>
                  <a:pt x="527661" y="527662"/>
                </a:lnTo>
                <a:lnTo>
                  <a:pt x="0" y="5276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617174" y="5612637"/>
            <a:ext cx="11150932" cy="2260252"/>
          </a:xfrm>
          <a:custGeom>
            <a:avLst/>
            <a:gdLst/>
            <a:ahLst/>
            <a:cxnLst/>
            <a:rect r="r" b="b" t="t" l="l"/>
            <a:pathLst>
              <a:path h="2260252" w="11150932">
                <a:moveTo>
                  <a:pt x="0" y="0"/>
                </a:moveTo>
                <a:lnTo>
                  <a:pt x="11150933" y="0"/>
                </a:lnTo>
                <a:lnTo>
                  <a:pt x="11150933" y="2260252"/>
                </a:lnTo>
                <a:lnTo>
                  <a:pt x="0" y="22602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48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49496" y="4494637"/>
            <a:ext cx="5237501" cy="5142073"/>
          </a:xfrm>
          <a:custGeom>
            <a:avLst/>
            <a:gdLst/>
            <a:ahLst/>
            <a:cxnLst/>
            <a:rect r="r" b="b" t="t" l="l"/>
            <a:pathLst>
              <a:path h="5142073" w="5237501">
                <a:moveTo>
                  <a:pt x="0" y="0"/>
                </a:moveTo>
                <a:lnTo>
                  <a:pt x="5237501" y="0"/>
                </a:lnTo>
                <a:lnTo>
                  <a:pt x="5237501" y="5142073"/>
                </a:lnTo>
                <a:lnTo>
                  <a:pt x="0" y="514207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15775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570511" y="2947885"/>
            <a:ext cx="9892837" cy="907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b="true" sz="6221">
                <a:solidFill>
                  <a:srgbClr val="F0F7FE"/>
                </a:solidFill>
                <a:latin typeface="Poppins Bold"/>
                <a:ea typeface="Poppins Bold"/>
                <a:cs typeface="Poppins Bold"/>
                <a:sym typeface="Poppins Bold"/>
              </a:rPr>
              <a:t>Alphanumeric dataset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68246" y="1500271"/>
            <a:ext cx="3797164" cy="29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b="true" sz="2097" i="true">
                <a:solidFill>
                  <a:srgbClr val="0B4876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Distributed Systems Project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25529" y="3404967"/>
            <a:ext cx="18939059" cy="1464829"/>
            <a:chOff x="0" y="0"/>
            <a:chExt cx="4988065" cy="3857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88065" cy="385799"/>
            </a:xfrm>
            <a:custGeom>
              <a:avLst/>
              <a:gdLst/>
              <a:ahLst/>
              <a:cxnLst/>
              <a:rect r="r" b="b" t="t" l="l"/>
              <a:pathLst>
                <a:path h="385799" w="4988065">
                  <a:moveTo>
                    <a:pt x="0" y="0"/>
                  </a:moveTo>
                  <a:lnTo>
                    <a:pt x="4988065" y="0"/>
                  </a:lnTo>
                  <a:lnTo>
                    <a:pt x="4988065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4988065" cy="357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326993" y="4137382"/>
            <a:ext cx="3980134" cy="4114800"/>
          </a:xfrm>
          <a:custGeom>
            <a:avLst/>
            <a:gdLst/>
            <a:ahLst/>
            <a:cxnLst/>
            <a:rect r="r" b="b" t="t" l="l"/>
            <a:pathLst>
              <a:path h="4114800" w="3980134">
                <a:moveTo>
                  <a:pt x="0" y="0"/>
                </a:moveTo>
                <a:lnTo>
                  <a:pt x="3980134" y="0"/>
                </a:lnTo>
                <a:lnTo>
                  <a:pt x="39801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1588548"/>
            <a:ext cx="2549517" cy="2585062"/>
          </a:xfrm>
          <a:custGeom>
            <a:avLst/>
            <a:gdLst/>
            <a:ahLst/>
            <a:cxnLst/>
            <a:rect r="r" b="b" t="t" l="l"/>
            <a:pathLst>
              <a:path h="2585062" w="2549517">
                <a:moveTo>
                  <a:pt x="0" y="0"/>
                </a:moveTo>
                <a:lnTo>
                  <a:pt x="2549517" y="0"/>
                </a:lnTo>
                <a:lnTo>
                  <a:pt x="2549517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543611" y="3404967"/>
            <a:ext cx="2549517" cy="2585062"/>
          </a:xfrm>
          <a:custGeom>
            <a:avLst/>
            <a:gdLst/>
            <a:ahLst/>
            <a:cxnLst/>
            <a:rect r="r" b="b" t="t" l="l"/>
            <a:pathLst>
              <a:path h="2585062" w="2549517">
                <a:moveTo>
                  <a:pt x="0" y="0"/>
                </a:moveTo>
                <a:lnTo>
                  <a:pt x="2549517" y="0"/>
                </a:lnTo>
                <a:lnTo>
                  <a:pt x="2549517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660616" y="1374714"/>
            <a:ext cx="527662" cy="527662"/>
          </a:xfrm>
          <a:custGeom>
            <a:avLst/>
            <a:gdLst/>
            <a:ahLst/>
            <a:cxnLst/>
            <a:rect r="r" b="b" t="t" l="l"/>
            <a:pathLst>
              <a:path h="527662" w="527662">
                <a:moveTo>
                  <a:pt x="0" y="0"/>
                </a:moveTo>
                <a:lnTo>
                  <a:pt x="527661" y="0"/>
                </a:lnTo>
                <a:lnTo>
                  <a:pt x="527661" y="527662"/>
                </a:lnTo>
                <a:lnTo>
                  <a:pt x="0" y="5276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60616" y="4835348"/>
            <a:ext cx="8497325" cy="2831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53"/>
              </a:lnSpc>
            </a:pPr>
            <a:r>
              <a:rPr lang="en-US" sz="9350" b="true">
                <a:solidFill>
                  <a:srgbClr val="063050"/>
                </a:solidFill>
                <a:latin typeface="Poppins Bold"/>
                <a:ea typeface="Poppins Bold"/>
                <a:cs typeface="Poppins Bold"/>
                <a:sym typeface="Poppins Bold"/>
              </a:rPr>
              <a:t>Any Questions?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660616" y="3511872"/>
            <a:ext cx="8449147" cy="1371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24"/>
              </a:lnSpc>
              <a:spcBef>
                <a:spcPct val="0"/>
              </a:spcBef>
            </a:pPr>
            <a:r>
              <a:rPr lang="en-US" b="true" sz="9350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68246" y="1500271"/>
            <a:ext cx="3797164" cy="29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b="true" sz="2097" i="true">
                <a:solidFill>
                  <a:srgbClr val="0B4876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Distributed Systems Project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762129"/>
            <a:ext cx="5856489" cy="149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6"/>
              </a:lnSpc>
            </a:pPr>
            <a:r>
              <a:rPr lang="en-US" sz="1928" b="true">
                <a:solidFill>
                  <a:srgbClr val="0B4876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Presented by:</a:t>
            </a:r>
          </a:p>
          <a:p>
            <a:pPr algn="l">
              <a:lnSpc>
                <a:spcPts val="1966"/>
              </a:lnSpc>
            </a:pPr>
          </a:p>
          <a:p>
            <a:pPr algn="l" marL="416323" indent="-208161" lvl="1">
              <a:lnSpc>
                <a:spcPts val="1966"/>
              </a:lnSpc>
              <a:buFont typeface="Arial"/>
              <a:buChar char="•"/>
            </a:pPr>
            <a:r>
              <a:rPr lang="en-US" sz="1928" i="true">
                <a:solidFill>
                  <a:srgbClr val="0B4876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Nouran Hassan Ahmed 2022/00062</a:t>
            </a:r>
          </a:p>
          <a:p>
            <a:pPr algn="l" marL="416323" indent="-208161" lvl="1">
              <a:lnSpc>
                <a:spcPts val="1966"/>
              </a:lnSpc>
              <a:buFont typeface="Arial"/>
              <a:buChar char="•"/>
            </a:pPr>
            <a:r>
              <a:rPr lang="en-US" sz="1928" i="true">
                <a:solidFill>
                  <a:srgbClr val="0B4876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Yahia Tamer 2022/02264</a:t>
            </a:r>
          </a:p>
          <a:p>
            <a:pPr algn="l" marL="416323" indent="-208161" lvl="1">
              <a:lnSpc>
                <a:spcPts val="1966"/>
              </a:lnSpc>
              <a:buFont typeface="Arial"/>
              <a:buChar char="•"/>
            </a:pPr>
            <a:r>
              <a:rPr lang="en-US" sz="1928" i="true">
                <a:solidFill>
                  <a:srgbClr val="0B4876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Malak Mohamed Abd-EL Razeq 2022/07005</a:t>
            </a:r>
          </a:p>
          <a:p>
            <a:pPr algn="l" marL="416323" indent="-208161" lvl="1">
              <a:lnSpc>
                <a:spcPts val="1966"/>
              </a:lnSpc>
              <a:buFont typeface="Arial"/>
              <a:buChar char="•"/>
            </a:pPr>
            <a:r>
              <a:rPr lang="en-US" sz="1928" i="true">
                <a:solidFill>
                  <a:srgbClr val="0B4876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Roaa Khaled Salah 2022/05885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DAG1Aln_Qjo</dc:identifier>
  <dcterms:modified xsi:type="dcterms:W3CDTF">2011-08-01T06:04:30Z</dcterms:modified>
  <cp:revision>1</cp:revision>
  <dc:title>Blue Gradient Modern Illustration Computer Presentation</dc:title>
</cp:coreProperties>
</file>